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71842-161A-41B9-90DF-B0EA7BBA4E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CB1D63-9691-4DA4-A0F7-9A06B8EA7F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2E67DE-F77D-4DAE-8B76-C34234B5C690}"/>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5" name="Footer Placeholder 4">
            <a:extLst>
              <a:ext uri="{FF2B5EF4-FFF2-40B4-BE49-F238E27FC236}">
                <a16:creationId xmlns:a16="http://schemas.microsoft.com/office/drawing/2014/main" id="{85C981DC-A4ED-4666-92B7-5368755FF3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8D211-B0AB-4359-A2A3-775D3C6B4482}"/>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686948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112D7-3493-4118-A2E3-E333E174E5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18AD4F-96A8-4FE4-8BAB-42D8DE3D35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69709-07CF-4B91-8019-FC633FF96A1E}"/>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5" name="Footer Placeholder 4">
            <a:extLst>
              <a:ext uri="{FF2B5EF4-FFF2-40B4-BE49-F238E27FC236}">
                <a16:creationId xmlns:a16="http://schemas.microsoft.com/office/drawing/2014/main" id="{73947B1A-D567-43D4-B8E6-C6A35AF95B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4F516-0ADE-427A-A9EA-BC3E3DC58E0F}"/>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3960597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1B8BF-119D-44B8-849C-AE3427AAF7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2C5F3F-B12B-49D9-8967-B849646E5A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E1F601-B0BB-475A-BDBF-3467BDD94AAD}"/>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5" name="Footer Placeholder 4">
            <a:extLst>
              <a:ext uri="{FF2B5EF4-FFF2-40B4-BE49-F238E27FC236}">
                <a16:creationId xmlns:a16="http://schemas.microsoft.com/office/drawing/2014/main" id="{9D59CE0C-CB77-4F8E-A9F0-443929035C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4FCA8C-28DE-4A0B-AC3F-7E6E2FFD0986}"/>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1727638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E9936-E508-4554-A6D8-50DF509A22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552C15-D2C0-44B6-A9DE-3C81CC8E9A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5A2D19-DCE6-4F45-A84B-5F20189F33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5ADC8B-B9D4-4A16-8BE6-A624DFE57A60}"/>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6" name="Footer Placeholder 5">
            <a:extLst>
              <a:ext uri="{FF2B5EF4-FFF2-40B4-BE49-F238E27FC236}">
                <a16:creationId xmlns:a16="http://schemas.microsoft.com/office/drawing/2014/main" id="{DEEA8856-BC8B-44BA-B96A-B7652404A0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06A59-2F8C-49C9-A405-A0F8EB155567}"/>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157174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C4AF-437D-4C71-8664-46BB253891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07B7F6-C5DC-4F78-88B5-8909BE2070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17F617-308B-4B8B-9446-6E1E39790C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92C704-D201-4587-A524-6EB3C35BFF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74F068-A9D4-43B8-B921-28ECC2E382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DCF544-F755-4550-888A-4F960FC55DAF}"/>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8" name="Footer Placeholder 7">
            <a:extLst>
              <a:ext uri="{FF2B5EF4-FFF2-40B4-BE49-F238E27FC236}">
                <a16:creationId xmlns:a16="http://schemas.microsoft.com/office/drawing/2014/main" id="{0F287FBF-986F-4B92-B485-E6F2553E0D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875FF7-A3A6-4E4F-8D28-B3D7B5863FC6}"/>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63430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8114F-CE1B-422A-8BFE-F7E7A5FCF9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5523FD-C60F-470B-9F28-A116581A9ADB}"/>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4" name="Footer Placeholder 3">
            <a:extLst>
              <a:ext uri="{FF2B5EF4-FFF2-40B4-BE49-F238E27FC236}">
                <a16:creationId xmlns:a16="http://schemas.microsoft.com/office/drawing/2014/main" id="{311922BF-86EA-4064-BC7F-5585F5D83B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2A7216-96A2-4CB2-AC70-6AFA0A84F489}"/>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4257064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FEF4F9-FF8B-4B46-ABC4-525E7EE7E48C}"/>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3" name="Footer Placeholder 2">
            <a:extLst>
              <a:ext uri="{FF2B5EF4-FFF2-40B4-BE49-F238E27FC236}">
                <a16:creationId xmlns:a16="http://schemas.microsoft.com/office/drawing/2014/main" id="{4EC47FE4-C37C-4A84-8BD7-A1F53CC368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D921D3-FA42-4391-B58B-0E95F45059D7}"/>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3585349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7941-7166-459B-A327-38DBC30BC7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C3F87C-0896-4A47-85E5-103B430C20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CC3A3E-9B9F-4A2C-B023-F176E45BC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5F6620-202B-406B-96A5-3F4DF22B3E69}"/>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6" name="Footer Placeholder 5">
            <a:extLst>
              <a:ext uri="{FF2B5EF4-FFF2-40B4-BE49-F238E27FC236}">
                <a16:creationId xmlns:a16="http://schemas.microsoft.com/office/drawing/2014/main" id="{6447F8A1-4C0B-471F-9349-7BFF0953E9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E2FDCD-CDDE-49C8-956E-5C3E3BE80CB8}"/>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1001647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430D4-5376-457B-B3EF-90868E5C00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B9144B-A77E-416E-B50D-322306005D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8086A5-C448-4AEE-9D4F-EBA8C279DE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CCA214-21F6-4062-9DDA-2D5D8DA855EA}"/>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6" name="Footer Placeholder 5">
            <a:extLst>
              <a:ext uri="{FF2B5EF4-FFF2-40B4-BE49-F238E27FC236}">
                <a16:creationId xmlns:a16="http://schemas.microsoft.com/office/drawing/2014/main" id="{0FD0E45A-C300-4DE1-8BD5-568FB3F4F1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3C3E97-56E8-4BC9-8C4E-013BEB3819B4}"/>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381303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6A2E4-4042-4A45-BBF6-8A35BB367C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51997B-C5AD-4FC0-9B32-A39AB0AFF3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E11518-73D7-41A4-8AEF-F6F08811CCD1}"/>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5" name="Footer Placeholder 4">
            <a:extLst>
              <a:ext uri="{FF2B5EF4-FFF2-40B4-BE49-F238E27FC236}">
                <a16:creationId xmlns:a16="http://schemas.microsoft.com/office/drawing/2014/main" id="{B9527762-90E4-4F30-8119-83D2811CCE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424167-A864-4A56-A760-A3EFA4640F16}"/>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83131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8B5D38-3872-47A9-A80B-DB1CCAE37D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A17009-BEB8-4909-A35C-E82F15DF64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4331F-4055-4A70-9B8D-DBD3C2FB9FC1}"/>
              </a:ext>
            </a:extLst>
          </p:cNvPr>
          <p:cNvSpPr>
            <a:spLocks noGrp="1"/>
          </p:cNvSpPr>
          <p:nvPr>
            <p:ph type="dt" sz="half" idx="10"/>
          </p:nvPr>
        </p:nvSpPr>
        <p:spPr/>
        <p:txBody>
          <a:bodyPr/>
          <a:lstStyle/>
          <a:p>
            <a:fld id="{0B5C8226-BF90-4B76-B36D-1373D4391598}" type="datetimeFigureOut">
              <a:rPr lang="en-US" smtClean="0"/>
              <a:t>7/18/2021</a:t>
            </a:fld>
            <a:endParaRPr lang="en-US"/>
          </a:p>
        </p:txBody>
      </p:sp>
      <p:sp>
        <p:nvSpPr>
          <p:cNvPr id="5" name="Footer Placeholder 4">
            <a:extLst>
              <a:ext uri="{FF2B5EF4-FFF2-40B4-BE49-F238E27FC236}">
                <a16:creationId xmlns:a16="http://schemas.microsoft.com/office/drawing/2014/main" id="{6EB6ED7E-6E70-4454-9AF9-26305FDB0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C583E-5FF5-403A-B193-BB547A8D7179}"/>
              </a:ext>
            </a:extLst>
          </p:cNvPr>
          <p:cNvSpPr>
            <a:spLocks noGrp="1"/>
          </p:cNvSpPr>
          <p:nvPr>
            <p:ph type="sldNum" sz="quarter" idx="12"/>
          </p:nvPr>
        </p:nvSpPr>
        <p:spPr/>
        <p:txBody>
          <a:bodyPr/>
          <a:lstStyle/>
          <a:p>
            <a:fld id="{BB49F676-265B-4B24-82DF-320D1DBD862A}" type="slidenum">
              <a:rPr lang="en-US" smtClean="0"/>
              <a:t>‹#›</a:t>
            </a:fld>
            <a:endParaRPr lang="en-US"/>
          </a:p>
        </p:txBody>
      </p:sp>
    </p:spTree>
    <p:extLst>
      <p:ext uri="{BB962C8B-B14F-4D97-AF65-F5344CB8AC3E}">
        <p14:creationId xmlns:p14="http://schemas.microsoft.com/office/powerpoint/2010/main" val="3995015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D94BE7-126B-46DC-B13C-7B6AB33707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170AAB-457E-4CA6-AAA8-CE61279677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DB945-096E-4C80-9239-4153A866E1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5C8226-BF90-4B76-B36D-1373D4391598}" type="datetimeFigureOut">
              <a:rPr lang="en-US" smtClean="0"/>
              <a:t>7/18/2021</a:t>
            </a:fld>
            <a:endParaRPr lang="en-US"/>
          </a:p>
        </p:txBody>
      </p:sp>
      <p:sp>
        <p:nvSpPr>
          <p:cNvPr id="5" name="Footer Placeholder 4">
            <a:extLst>
              <a:ext uri="{FF2B5EF4-FFF2-40B4-BE49-F238E27FC236}">
                <a16:creationId xmlns:a16="http://schemas.microsoft.com/office/drawing/2014/main" id="{C1DE2140-F2C4-4B38-B9C8-EB57433B37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32B794E-FD21-42D0-9887-32761940B7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49F676-265B-4B24-82DF-320D1DBD862A}" type="slidenum">
              <a:rPr lang="en-US" smtClean="0"/>
              <a:t>‹#›</a:t>
            </a:fld>
            <a:endParaRPr lang="en-US"/>
          </a:p>
        </p:txBody>
      </p:sp>
    </p:spTree>
    <p:extLst>
      <p:ext uri="{BB962C8B-B14F-4D97-AF65-F5344CB8AC3E}">
        <p14:creationId xmlns:p14="http://schemas.microsoft.com/office/powerpoint/2010/main" val="3042770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ACF1D-8245-4D90-BE7D-A32214472EF8}"/>
              </a:ext>
            </a:extLst>
          </p:cNvPr>
          <p:cNvSpPr>
            <a:spLocks noGrp="1"/>
          </p:cNvSpPr>
          <p:nvPr>
            <p:ph type="ctrTitle"/>
          </p:nvPr>
        </p:nvSpPr>
        <p:spPr/>
        <p:txBody>
          <a:bodyPr>
            <a:normAutofit fontScale="90000"/>
          </a:bodyPr>
          <a:lstStyle/>
          <a:p>
            <a:r>
              <a:rPr lang="en-US" b="1" i="0" dirty="0">
                <a:solidFill>
                  <a:srgbClr val="000000"/>
                </a:solidFill>
                <a:effectLst/>
                <a:latin typeface="Helvetica Neue"/>
              </a:rPr>
              <a:t>Capstone Project – The Battle of Neighborhoods</a:t>
            </a:r>
            <a:br>
              <a:rPr lang="en-US" b="1" i="0" dirty="0">
                <a:solidFill>
                  <a:srgbClr val="000000"/>
                </a:solidFill>
                <a:effectLst/>
                <a:latin typeface="Helvetica Neue"/>
              </a:rPr>
            </a:br>
            <a:endParaRPr lang="en-US" dirty="0"/>
          </a:p>
        </p:txBody>
      </p:sp>
    </p:spTree>
    <p:extLst>
      <p:ext uri="{BB962C8B-B14F-4D97-AF65-F5344CB8AC3E}">
        <p14:creationId xmlns:p14="http://schemas.microsoft.com/office/powerpoint/2010/main" val="2295198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1EFB3F-A048-4B79-8A93-D2D51F8AAD2F}"/>
              </a:ext>
            </a:extLst>
          </p:cNvPr>
          <p:cNvSpPr>
            <a:spLocks noGrp="1"/>
          </p:cNvSpPr>
          <p:nvPr>
            <p:ph idx="1"/>
          </p:nvPr>
        </p:nvSpPr>
        <p:spPr>
          <a:xfrm>
            <a:off x="503853" y="326571"/>
            <a:ext cx="10849947" cy="5850392"/>
          </a:xfrm>
        </p:spPr>
        <p:txBody>
          <a:bodyPr>
            <a:normAutofit fontScale="85000" lnSpcReduction="20000"/>
          </a:bodyPr>
          <a:lstStyle/>
          <a:p>
            <a:pPr algn="l"/>
            <a:r>
              <a:rPr lang="en-US" b="1" i="0" dirty="0">
                <a:solidFill>
                  <a:srgbClr val="000000"/>
                </a:solidFill>
                <a:effectLst/>
                <a:latin typeface="Helvetica Neue"/>
              </a:rPr>
              <a:t>1. Introduction:</a:t>
            </a:r>
          </a:p>
          <a:p>
            <a:pPr algn="just"/>
            <a:r>
              <a:rPr lang="en-US" b="0" i="0" dirty="0">
                <a:solidFill>
                  <a:srgbClr val="000000"/>
                </a:solidFill>
                <a:effectLst/>
                <a:latin typeface="Helvetica Neue"/>
              </a:rPr>
              <a:t>The purpose of this Project is to help people in exploring better facilities around their neighborhood. It will help people making smart and efficient decision on selecting great neighborhood out of numbers of other neighborhoods in Scarborough, </a:t>
            </a:r>
            <a:r>
              <a:rPr lang="en-US" b="0" i="0" dirty="0" err="1">
                <a:solidFill>
                  <a:srgbClr val="000000"/>
                </a:solidFill>
                <a:effectLst/>
                <a:latin typeface="Helvetica Neue"/>
              </a:rPr>
              <a:t>Toranto</a:t>
            </a:r>
            <a:r>
              <a:rPr lang="en-US" b="0" i="0" dirty="0">
                <a:solidFill>
                  <a:srgbClr val="000000"/>
                </a:solidFill>
                <a:effectLst/>
                <a:latin typeface="Helvetica Neue"/>
              </a:rPr>
              <a:t>.</a:t>
            </a:r>
          </a:p>
          <a:p>
            <a:pPr algn="just"/>
            <a:r>
              <a:rPr lang="en-US" b="0" i="0" dirty="0">
                <a:solidFill>
                  <a:srgbClr val="000000"/>
                </a:solidFill>
                <a:effectLst/>
                <a:latin typeface="Helvetica Neue"/>
              </a:rPr>
              <a:t>Lots of people are migrating to various states of Canada and needed lots of research for good housing prices and </a:t>
            </a:r>
            <a:r>
              <a:rPr lang="en-US" b="0" i="0" dirty="0" err="1">
                <a:solidFill>
                  <a:srgbClr val="000000"/>
                </a:solidFill>
                <a:effectLst/>
                <a:latin typeface="Helvetica Neue"/>
              </a:rPr>
              <a:t>reputated</a:t>
            </a:r>
            <a:r>
              <a:rPr lang="en-US" b="0" i="0" dirty="0">
                <a:solidFill>
                  <a:srgbClr val="000000"/>
                </a:solidFill>
                <a:effectLst/>
                <a:latin typeface="Helvetica Neue"/>
              </a:rPr>
              <a:t> schools for their children. This project is for those people who are looking for better neighborhoods. For ease of accessing to Cafe, School, Super market, medical shops, grocery shops, mall, theatre, hospital, like minded people, etc.</a:t>
            </a:r>
          </a:p>
          <a:p>
            <a:pPr algn="just"/>
            <a:r>
              <a:rPr lang="en-US" b="0" i="0" dirty="0">
                <a:solidFill>
                  <a:srgbClr val="000000"/>
                </a:solidFill>
                <a:effectLst/>
                <a:latin typeface="Helvetica Neue"/>
              </a:rPr>
              <a:t>This Project aim to create an analysis of features for a people migrating to Scarborough to search a best neighborhood as a comparative analysis between neighborhoods. The features include median housing price and better school according to ratings, crime rates of that particular area, road connectivity, weather conditions, good management for emergency, water resources both </a:t>
            </a:r>
            <a:r>
              <a:rPr lang="en-US" b="0" i="0" dirty="0" err="1">
                <a:solidFill>
                  <a:srgbClr val="000000"/>
                </a:solidFill>
                <a:effectLst/>
                <a:latin typeface="Helvetica Neue"/>
              </a:rPr>
              <a:t>freash</a:t>
            </a:r>
            <a:r>
              <a:rPr lang="en-US" b="0" i="0" dirty="0">
                <a:solidFill>
                  <a:srgbClr val="000000"/>
                </a:solidFill>
                <a:effectLst/>
                <a:latin typeface="Helvetica Neue"/>
              </a:rPr>
              <a:t> and waste water and excrement conveyed in sewers and recreational facilities.</a:t>
            </a:r>
          </a:p>
          <a:p>
            <a:pPr algn="just"/>
            <a:r>
              <a:rPr lang="en-US" b="0" i="0" dirty="0">
                <a:solidFill>
                  <a:srgbClr val="000000"/>
                </a:solidFill>
                <a:effectLst/>
                <a:latin typeface="Helvetica Neue"/>
              </a:rPr>
              <a:t>It will help people to get awareness of the area and neighborhood before moving to a new city, state, country or place for their work or to start a new fresh life.</a:t>
            </a:r>
          </a:p>
          <a:p>
            <a:endParaRPr lang="en-US" dirty="0"/>
          </a:p>
        </p:txBody>
      </p:sp>
    </p:spTree>
    <p:extLst>
      <p:ext uri="{BB962C8B-B14F-4D97-AF65-F5344CB8AC3E}">
        <p14:creationId xmlns:p14="http://schemas.microsoft.com/office/powerpoint/2010/main" val="4050466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ACE24F-3FBD-40E2-AAF0-B32C7797E3C7}"/>
              </a:ext>
            </a:extLst>
          </p:cNvPr>
          <p:cNvSpPr>
            <a:spLocks noGrp="1"/>
          </p:cNvSpPr>
          <p:nvPr>
            <p:ph idx="1"/>
          </p:nvPr>
        </p:nvSpPr>
        <p:spPr>
          <a:xfrm>
            <a:off x="363894" y="214604"/>
            <a:ext cx="10989906" cy="5962359"/>
          </a:xfrm>
        </p:spPr>
        <p:txBody>
          <a:bodyPr>
            <a:normAutofit fontScale="40000" lnSpcReduction="20000"/>
          </a:bodyPr>
          <a:lstStyle/>
          <a:p>
            <a:r>
              <a:rPr lang="en-US" dirty="0"/>
              <a:t>2. Data Section</a:t>
            </a:r>
          </a:p>
          <a:p>
            <a:r>
              <a:rPr lang="en-US" dirty="0"/>
              <a:t>Data Link: https://en.wikipedia.org/wiki/List_of_postal_codes_of_Canada:_M</a:t>
            </a:r>
          </a:p>
          <a:p>
            <a:endParaRPr lang="en-US" dirty="0"/>
          </a:p>
          <a:p>
            <a:r>
              <a:rPr lang="en-US" dirty="0"/>
              <a:t>Will use Scarborough dataset which we scrapped from </a:t>
            </a:r>
            <a:r>
              <a:rPr lang="en-US" dirty="0" err="1"/>
              <a:t>wikipedia</a:t>
            </a:r>
            <a:r>
              <a:rPr lang="en-US" dirty="0"/>
              <a:t> on Week 3. Dataset consisting of latitude and longitude, zip codes.</a:t>
            </a:r>
          </a:p>
          <a:p>
            <a:endParaRPr lang="en-US" dirty="0"/>
          </a:p>
          <a:p>
            <a:r>
              <a:rPr lang="en-US" dirty="0"/>
              <a:t>Foursquare API Data:</a:t>
            </a:r>
          </a:p>
          <a:p>
            <a:r>
              <a:rPr lang="en-US" dirty="0"/>
              <a:t>We will need data about different venues in different neighborhoods of that specific borough. In order to gain that information we will use "Foursquare" locational information. Foursquare is a location data provider with information about all manner of venues and events within an area of interest. Such information includes venue names, locations, menus and even photos. As such, the foursquare location platform will be used as the sole data source since all the stated required information can be obtained through the API.</a:t>
            </a:r>
          </a:p>
          <a:p>
            <a:endParaRPr lang="en-US" dirty="0"/>
          </a:p>
          <a:p>
            <a:r>
              <a:rPr lang="en-US" dirty="0"/>
              <a:t>After finding the list of neighborhoods, we then connect to the Foursquare API to gather information about venues inside each and every neighborhood. For each neighborhood, we have chosen the radius to be 100 meter.</a:t>
            </a:r>
          </a:p>
          <a:p>
            <a:endParaRPr lang="en-US" dirty="0"/>
          </a:p>
          <a:p>
            <a:r>
              <a:rPr lang="en-US" dirty="0"/>
              <a:t>The data retrieved from Foursquare contained information of venues within a specified distance of the longitude and latitude of the postcodes. The information obtained per venue as follows:</a:t>
            </a:r>
          </a:p>
          <a:p>
            <a:endParaRPr lang="en-US" dirty="0"/>
          </a:p>
          <a:p>
            <a:r>
              <a:rPr lang="en-US" dirty="0"/>
              <a:t>1. Neighborhood</a:t>
            </a:r>
          </a:p>
          <a:p>
            <a:r>
              <a:rPr lang="en-US" dirty="0"/>
              <a:t>2. Neighborhood Latitude</a:t>
            </a:r>
          </a:p>
          <a:p>
            <a:r>
              <a:rPr lang="en-US" dirty="0"/>
              <a:t>3. Neighborhood Longitude</a:t>
            </a:r>
          </a:p>
          <a:p>
            <a:r>
              <a:rPr lang="en-US" dirty="0"/>
              <a:t>4. Venue</a:t>
            </a:r>
          </a:p>
          <a:p>
            <a:r>
              <a:rPr lang="en-US" dirty="0"/>
              <a:t>5. Name of the venue e.g. the name of a store or restaurant</a:t>
            </a:r>
          </a:p>
          <a:p>
            <a:r>
              <a:rPr lang="en-US" dirty="0"/>
              <a:t>6. Venue Latitude</a:t>
            </a:r>
          </a:p>
          <a:p>
            <a:r>
              <a:rPr lang="en-US" dirty="0"/>
              <a:t>7. Venue Longitude</a:t>
            </a:r>
          </a:p>
          <a:p>
            <a:r>
              <a:rPr lang="en-US" dirty="0"/>
              <a:t>8. Venue Category</a:t>
            </a:r>
          </a:p>
        </p:txBody>
      </p:sp>
    </p:spTree>
    <p:extLst>
      <p:ext uri="{BB962C8B-B14F-4D97-AF65-F5344CB8AC3E}">
        <p14:creationId xmlns:p14="http://schemas.microsoft.com/office/powerpoint/2010/main" val="797906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p&#10;&#10;Description automatically generated">
            <a:extLst>
              <a:ext uri="{FF2B5EF4-FFF2-40B4-BE49-F238E27FC236}">
                <a16:creationId xmlns:a16="http://schemas.microsoft.com/office/drawing/2014/main" id="{202DD4F1-7540-429C-BFE1-231E95069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9"/>
            <a:ext cx="12192000" cy="6855221"/>
          </a:xfrm>
          <a:prstGeom prst="rect">
            <a:avLst/>
          </a:prstGeom>
        </p:spPr>
      </p:pic>
    </p:spTree>
    <p:extLst>
      <p:ext uri="{BB962C8B-B14F-4D97-AF65-F5344CB8AC3E}">
        <p14:creationId xmlns:p14="http://schemas.microsoft.com/office/powerpoint/2010/main" val="1682830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4D7EB-5ECB-4D1D-B9CD-83FC8BB083E9}"/>
              </a:ext>
            </a:extLst>
          </p:cNvPr>
          <p:cNvSpPr>
            <a:spLocks noGrp="1"/>
          </p:cNvSpPr>
          <p:nvPr>
            <p:ph idx="1"/>
          </p:nvPr>
        </p:nvSpPr>
        <p:spPr>
          <a:xfrm>
            <a:off x="214604" y="121298"/>
            <a:ext cx="11139196" cy="6055665"/>
          </a:xfrm>
        </p:spPr>
        <p:txBody>
          <a:bodyPr/>
          <a:lstStyle/>
          <a:p>
            <a:pPr algn="l"/>
            <a:r>
              <a:rPr lang="en-US" sz="1400" b="1" i="0" dirty="0">
                <a:solidFill>
                  <a:srgbClr val="000000"/>
                </a:solidFill>
                <a:effectLst/>
                <a:latin typeface="Helvetica Neue"/>
              </a:rPr>
              <a:t>3. Methodology Section</a:t>
            </a:r>
          </a:p>
          <a:p>
            <a:pPr algn="l"/>
            <a:r>
              <a:rPr lang="en-US" sz="1400" b="1" i="0" dirty="0">
                <a:solidFill>
                  <a:srgbClr val="000000"/>
                </a:solidFill>
                <a:effectLst/>
                <a:latin typeface="Helvetica Neue"/>
              </a:rPr>
              <a:t>Clustering Approach:</a:t>
            </a:r>
          </a:p>
          <a:p>
            <a:pPr algn="just"/>
            <a:r>
              <a:rPr lang="en-US" sz="1400" b="0" i="0" dirty="0">
                <a:solidFill>
                  <a:srgbClr val="000000"/>
                </a:solidFill>
                <a:effectLst/>
                <a:latin typeface="Helvetica Neue"/>
              </a:rPr>
              <a:t>To compare the similarities of two cities, we decided to explore neighborhoods, segment them, and group them into clusters to find similar neighborhoods in a big city like New York and Toronto. To be able to do that, we need to cluster data which is a form of unsupervised machine learning: k-means clustering algorithm.</a:t>
            </a:r>
          </a:p>
          <a:p>
            <a:pPr algn="just"/>
            <a:r>
              <a:rPr lang="en-US" sz="1400" b="1" i="0" dirty="0">
                <a:solidFill>
                  <a:srgbClr val="000000"/>
                </a:solidFill>
                <a:effectLst/>
                <a:latin typeface="Helvetica Neue"/>
              </a:rPr>
              <a:t>Using K-Means Clustering Approach</a:t>
            </a:r>
            <a:endParaRPr lang="en-US" sz="1400" b="0" i="0" dirty="0">
              <a:solidFill>
                <a:srgbClr val="000000"/>
              </a:solidFill>
              <a:effectLst/>
              <a:latin typeface="Helvetica Neue"/>
            </a:endParaRPr>
          </a:p>
          <a:p>
            <a:endParaRPr lang="en-US" dirty="0"/>
          </a:p>
        </p:txBody>
      </p:sp>
      <p:pic>
        <p:nvPicPr>
          <p:cNvPr id="7" name="Picture 6" descr="Graphical user interface, text, application, email&#10;&#10;Description automatically generated">
            <a:extLst>
              <a:ext uri="{FF2B5EF4-FFF2-40B4-BE49-F238E27FC236}">
                <a16:creationId xmlns:a16="http://schemas.microsoft.com/office/drawing/2014/main" id="{19063B01-219F-4B1B-B581-0486223DE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048317"/>
            <a:ext cx="7135868" cy="4057208"/>
          </a:xfrm>
          <a:prstGeom prst="rect">
            <a:avLst/>
          </a:prstGeom>
        </p:spPr>
      </p:pic>
    </p:spTree>
    <p:extLst>
      <p:ext uri="{BB962C8B-B14F-4D97-AF65-F5344CB8AC3E}">
        <p14:creationId xmlns:p14="http://schemas.microsoft.com/office/powerpoint/2010/main" val="2907015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BD2DDB-7C15-4898-BA4D-7E53BE936FCD}"/>
              </a:ext>
            </a:extLst>
          </p:cNvPr>
          <p:cNvSpPr>
            <a:spLocks noGrp="1"/>
          </p:cNvSpPr>
          <p:nvPr>
            <p:ph idx="1"/>
          </p:nvPr>
        </p:nvSpPr>
        <p:spPr>
          <a:xfrm>
            <a:off x="345233" y="261257"/>
            <a:ext cx="11008567" cy="5915706"/>
          </a:xfrm>
        </p:spPr>
        <p:txBody>
          <a:bodyPr/>
          <a:lstStyle/>
          <a:p>
            <a:pPr algn="l"/>
            <a:r>
              <a:rPr lang="en-US" sz="1200" b="1" i="0" dirty="0">
                <a:solidFill>
                  <a:srgbClr val="000000"/>
                </a:solidFill>
                <a:effectLst/>
                <a:latin typeface="Helvetica Neue"/>
              </a:rPr>
              <a:t>4. Results Section</a:t>
            </a:r>
          </a:p>
          <a:p>
            <a:pPr algn="just"/>
            <a:r>
              <a:rPr lang="en-US" sz="1200" b="1" i="0" dirty="0">
                <a:solidFill>
                  <a:srgbClr val="000000"/>
                </a:solidFill>
                <a:effectLst/>
                <a:latin typeface="Helvetica Neue"/>
              </a:rPr>
              <a:t>Map of Clusters in Scarborough</a:t>
            </a:r>
            <a:endParaRPr lang="en-US" sz="1200" b="0" i="0" dirty="0">
              <a:solidFill>
                <a:srgbClr val="000000"/>
              </a:solidFill>
              <a:effectLst/>
              <a:latin typeface="Helvetica Neue"/>
            </a:endParaRPr>
          </a:p>
          <a:p>
            <a:endParaRPr lang="en-US" dirty="0"/>
          </a:p>
        </p:txBody>
      </p:sp>
      <p:pic>
        <p:nvPicPr>
          <p:cNvPr id="5" name="Picture 4" descr="Map&#10;&#10;Description automatically generated">
            <a:extLst>
              <a:ext uri="{FF2B5EF4-FFF2-40B4-BE49-F238E27FC236}">
                <a16:creationId xmlns:a16="http://schemas.microsoft.com/office/drawing/2014/main" id="{1B1AF3D2-4683-4DF8-81CF-1A021AD06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917358"/>
            <a:ext cx="10048142" cy="5679385"/>
          </a:xfrm>
          <a:prstGeom prst="rect">
            <a:avLst/>
          </a:prstGeom>
        </p:spPr>
      </p:pic>
    </p:spTree>
    <p:extLst>
      <p:ext uri="{BB962C8B-B14F-4D97-AF65-F5344CB8AC3E}">
        <p14:creationId xmlns:p14="http://schemas.microsoft.com/office/powerpoint/2010/main" val="510933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A1ECFA-BBD8-4593-AD74-0D35280FB63D}"/>
              </a:ext>
            </a:extLst>
          </p:cNvPr>
          <p:cNvSpPr>
            <a:spLocks noGrp="1"/>
          </p:cNvSpPr>
          <p:nvPr>
            <p:ph idx="1"/>
          </p:nvPr>
        </p:nvSpPr>
        <p:spPr>
          <a:xfrm>
            <a:off x="251927" y="289249"/>
            <a:ext cx="11101873" cy="5887714"/>
          </a:xfrm>
        </p:spPr>
        <p:txBody>
          <a:bodyPr>
            <a:normAutofit/>
          </a:bodyPr>
          <a:lstStyle/>
          <a:p>
            <a:pPr algn="l"/>
            <a:r>
              <a:rPr lang="en-US" b="1" i="0" dirty="0">
                <a:solidFill>
                  <a:srgbClr val="000000"/>
                </a:solidFill>
                <a:effectLst/>
                <a:latin typeface="Helvetica Neue"/>
              </a:rPr>
              <a:t>5. Discussion Section</a:t>
            </a:r>
          </a:p>
          <a:p>
            <a:pPr algn="l"/>
            <a:r>
              <a:rPr lang="en-US" b="1" i="0" dirty="0">
                <a:solidFill>
                  <a:srgbClr val="000000"/>
                </a:solidFill>
                <a:effectLst/>
                <a:latin typeface="Helvetica Neue"/>
              </a:rPr>
              <a:t>Problem Which Tried to Solve:</a:t>
            </a:r>
          </a:p>
          <a:p>
            <a:pPr algn="just"/>
            <a:r>
              <a:rPr lang="en-US" b="0" i="0" dirty="0">
                <a:solidFill>
                  <a:srgbClr val="000000"/>
                </a:solidFill>
                <a:effectLst/>
                <a:latin typeface="Helvetica Neue"/>
              </a:rPr>
              <a:t>The major purpose of this project, is to suggest a better neighborhood in a new city for the person who are </a:t>
            </a:r>
            <a:r>
              <a:rPr lang="en-US" b="0" i="0" dirty="0" err="1">
                <a:solidFill>
                  <a:srgbClr val="000000"/>
                </a:solidFill>
                <a:effectLst/>
                <a:latin typeface="Helvetica Neue"/>
              </a:rPr>
              <a:t>shiffting</a:t>
            </a:r>
            <a:r>
              <a:rPr lang="en-US" b="0" i="0" dirty="0">
                <a:solidFill>
                  <a:srgbClr val="000000"/>
                </a:solidFill>
                <a:effectLst/>
                <a:latin typeface="Helvetica Neue"/>
              </a:rPr>
              <a:t> there. Social presence in society in terms of like minded people. Connectivity to the airport, bus stand, city center, markets and other daily needs things nearby.</a:t>
            </a:r>
          </a:p>
          <a:p>
            <a:pPr algn="l">
              <a:buFont typeface="+mj-lt"/>
              <a:buAutoNum type="arabicPeriod"/>
            </a:pPr>
            <a:r>
              <a:rPr lang="en-US" b="0" i="0" dirty="0">
                <a:solidFill>
                  <a:srgbClr val="000000"/>
                </a:solidFill>
                <a:effectLst/>
                <a:latin typeface="Helvetica Neue"/>
              </a:rPr>
              <a:t>Sorted list of house in terms of housing prices in a ascending or descending order</a:t>
            </a:r>
          </a:p>
          <a:p>
            <a:pPr algn="l">
              <a:buFont typeface="+mj-lt"/>
              <a:buAutoNum type="arabicPeriod"/>
            </a:pPr>
            <a:r>
              <a:rPr lang="en-US" b="0" i="0" dirty="0">
                <a:solidFill>
                  <a:srgbClr val="000000"/>
                </a:solidFill>
                <a:effectLst/>
                <a:latin typeface="Helvetica Neue"/>
              </a:rPr>
              <a:t>Sorted list of schools in terms of location, fees, rating and reviews</a:t>
            </a:r>
          </a:p>
          <a:p>
            <a:endParaRPr lang="en-US" dirty="0"/>
          </a:p>
        </p:txBody>
      </p:sp>
    </p:spTree>
    <p:extLst>
      <p:ext uri="{BB962C8B-B14F-4D97-AF65-F5344CB8AC3E}">
        <p14:creationId xmlns:p14="http://schemas.microsoft.com/office/powerpoint/2010/main" val="90923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CA5696-0BAD-40DD-BE61-DE565EA8D693}"/>
              </a:ext>
            </a:extLst>
          </p:cNvPr>
          <p:cNvSpPr>
            <a:spLocks noGrp="1"/>
          </p:cNvSpPr>
          <p:nvPr>
            <p:ph idx="1"/>
          </p:nvPr>
        </p:nvSpPr>
        <p:spPr>
          <a:xfrm>
            <a:off x="317241" y="223935"/>
            <a:ext cx="11036559" cy="5953028"/>
          </a:xfrm>
        </p:spPr>
        <p:txBody>
          <a:bodyPr/>
          <a:lstStyle/>
          <a:p>
            <a:pPr algn="l"/>
            <a:r>
              <a:rPr lang="en-US" b="1" i="0" dirty="0">
                <a:solidFill>
                  <a:srgbClr val="000000"/>
                </a:solidFill>
                <a:effectLst/>
                <a:latin typeface="Helvetica Neue"/>
              </a:rPr>
              <a:t>6. Conclusion Section</a:t>
            </a:r>
          </a:p>
          <a:p>
            <a:pPr algn="just"/>
            <a:r>
              <a:rPr lang="en-US" b="0" i="0" dirty="0">
                <a:solidFill>
                  <a:srgbClr val="000000"/>
                </a:solidFill>
                <a:effectLst/>
                <a:latin typeface="Helvetica Neue"/>
              </a:rPr>
              <a:t>In this project, using k-means cluster algorithm I separated the neighborhood into 10(Ten) different clusters and for 103 different </a:t>
            </a:r>
            <a:r>
              <a:rPr lang="en-US" b="0" i="0" dirty="0" err="1">
                <a:solidFill>
                  <a:srgbClr val="000000"/>
                </a:solidFill>
                <a:effectLst/>
                <a:latin typeface="Helvetica Neue"/>
              </a:rPr>
              <a:t>lattitude</a:t>
            </a:r>
            <a:r>
              <a:rPr lang="en-US" b="0" i="0" dirty="0">
                <a:solidFill>
                  <a:srgbClr val="000000"/>
                </a:solidFill>
                <a:effectLst/>
                <a:latin typeface="Helvetica Neue"/>
              </a:rPr>
              <a:t> and </a:t>
            </a:r>
            <a:r>
              <a:rPr lang="en-US" b="0" i="0" dirty="0" err="1">
                <a:solidFill>
                  <a:srgbClr val="000000"/>
                </a:solidFill>
                <a:effectLst/>
                <a:latin typeface="Helvetica Neue"/>
              </a:rPr>
              <a:t>logitude</a:t>
            </a:r>
            <a:r>
              <a:rPr lang="en-US" b="0" i="0" dirty="0">
                <a:solidFill>
                  <a:srgbClr val="000000"/>
                </a:solidFill>
                <a:effectLst/>
                <a:latin typeface="Helvetica Neue"/>
              </a:rPr>
              <a:t> from dataset, which have very-similar neighborhoods around them. Using the charts above results presented to a particular neighborhood based on average house prices and school rating have been made.</a:t>
            </a:r>
          </a:p>
          <a:p>
            <a:pPr algn="just"/>
            <a:r>
              <a:rPr lang="en-US" b="0" i="0" dirty="0">
                <a:solidFill>
                  <a:srgbClr val="000000"/>
                </a:solidFill>
                <a:effectLst/>
                <a:latin typeface="Helvetica Neue"/>
              </a:rPr>
              <a:t>I feel rewarded with the efforts and believe this course with all the topics covered is well worthy of appreciation. This project has shown me a practical application to resolve a real situation that has impacting personal and financial impact using Data Science tools. </a:t>
            </a:r>
            <a:r>
              <a:rPr lang="en-US" b="0" i="0">
                <a:solidFill>
                  <a:srgbClr val="000000"/>
                </a:solidFill>
                <a:effectLst/>
                <a:latin typeface="Helvetica Neue"/>
              </a:rPr>
              <a:t>The mapping with Folium is a very powerful technique to consolidate information and make the analysis and decision better with confidence.</a:t>
            </a:r>
          </a:p>
          <a:p>
            <a:endParaRPr lang="en-US" dirty="0"/>
          </a:p>
        </p:txBody>
      </p:sp>
    </p:spTree>
    <p:extLst>
      <p:ext uri="{BB962C8B-B14F-4D97-AF65-F5344CB8AC3E}">
        <p14:creationId xmlns:p14="http://schemas.microsoft.com/office/powerpoint/2010/main" val="3132563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797</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Helvetica Neue</vt:lpstr>
      <vt:lpstr>Office Theme</vt:lpstr>
      <vt:lpstr>Capstone Project – The Battle of Neighborhoods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The Battle of Neighborhoods </dc:title>
  <dc:creator>Shiven Khurdi</dc:creator>
  <cp:lastModifiedBy>Shiven Khurdi</cp:lastModifiedBy>
  <cp:revision>1</cp:revision>
  <dcterms:created xsi:type="dcterms:W3CDTF">2021-07-18T13:58:12Z</dcterms:created>
  <dcterms:modified xsi:type="dcterms:W3CDTF">2021-07-18T14:02:01Z</dcterms:modified>
</cp:coreProperties>
</file>